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1094415" cy="3108960"/>
          </a:xfrm>
          <a:prstGeom prst="roundRect">
            <a:avLst/>
          </a:prstGeom>
          <a:solidFill>
            <a:srgbClr val="184D2B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411480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🌾 ENGINEERING MINI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AgriSahay AI</a:t>
            </a:r>
          </a:p>
          <a:p>
            <a:pPr>
              <a:defRPr sz="2200" b="1">
                <a:solidFill>
                  <a:srgbClr val="4CAF50"/>
                </a:solidFill>
              </a:defRPr>
            </a:pPr>
            <a:r>
              <a:t>AI-Powered Agriculture Decision Support System</a:t>
            </a:r>
          </a:p>
          <a:p>
            <a:pPr>
              <a:defRPr sz="1300">
                <a:solidFill>
                  <a:srgbClr val="DCEDDE"/>
                </a:solidFill>
              </a:defRPr>
            </a:pPr>
            <a:r>
              <a:t>Empowering rural farmers with multimodal AI insights, real-time weather analytics, and disease diagnosis.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17520"/>
            <a:ext cx="1920240" cy="36576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React.js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3017520"/>
            <a:ext cx="1920240" cy="36576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Spring Boot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3017520"/>
            <a:ext cx="1920240" cy="36576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MySQL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3017520"/>
            <a:ext cx="1920240" cy="36576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Google Gemini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017520"/>
            <a:ext cx="1920240" cy="365760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OpenWeather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53949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👩‍💻 STUDENT DEVELOPER</a:t>
            </a:r>
          </a:p>
          <a:p>
            <a:pPr>
              <a:defRPr sz="2000" b="1">
                <a:solidFill>
                  <a:srgbClr val="1A2E22"/>
                </a:solidFill>
              </a:defRPr>
            </a:pPr>
            <a:r>
              <a:t>Yagavi</a:t>
            </a:r>
          </a:p>
          <a:p>
            <a:pPr>
              <a:defRPr sz="1200">
                <a:solidFill>
                  <a:srgbClr val="607367"/>
                </a:solidFill>
              </a:defRPr>
            </a:pPr>
            <a:r>
              <a:t>Bachelor of Technology (B.Tech) – Information Technology</a:t>
            </a:r>
            <a:br/>
            <a:r>
              <a:t>Specialization: AI &amp; Full-Stack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3931920"/>
            <a:ext cx="53949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🏛 DEPARTMENT &amp; INSTITUTION</a:t>
            </a:r>
          </a:p>
          <a:p>
            <a:pPr>
              <a:defRPr sz="1800" b="1">
                <a:solidFill>
                  <a:srgbClr val="1A2E22"/>
                </a:solidFill>
              </a:defRPr>
            </a:pPr>
            <a:r>
              <a:t>Department of Information Technology</a:t>
            </a:r>
          </a:p>
          <a:p>
            <a:pPr>
              <a:defRPr sz="1200">
                <a:solidFill>
                  <a:srgbClr val="607367"/>
                </a:solidFill>
              </a:defRPr>
            </a:pPr>
            <a:r>
              <a:t>Engineering Mini Project Evaluation | Academic Session 2026</a:t>
            </a:r>
            <a:br/>
            <a:r>
              <a:t>Status: Production Ready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  <a:latin typeface="Calibri"/>
              </a:defRPr>
            </a:pPr>
            <a:r>
              <a:t>AGRISAHAY AI | AI-POWERED AGRICULTURE DECISION SUPPORT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📋 Abstract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474720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62828"/>
                </a:solidFill>
              </a:defRPr>
            </a:pPr>
            <a:r>
              <a:t>🚨 Core Problem</a:t>
            </a:r>
          </a:p>
          <a:p>
            <a:pPr>
              <a:defRPr sz="1300" b="1">
                <a:solidFill>
                  <a:srgbClr val="1A2E22"/>
                </a:solidFill>
              </a:defRPr>
            </a:pPr>
            <a:r>
              <a:t>Fragmented Information Ecosystem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607367"/>
                </a:solidFill>
              </a:defRPr>
            </a:pPr>
            <a:r>
              <a:t>• Farmers rely on multiple disparate portals for weather, crop advice, market prices, and government schemes.</a:t>
            </a:r>
          </a:p>
          <a:p>
            <a:pPr>
              <a:defRPr sz="1200">
                <a:solidFill>
                  <a:srgbClr val="607367"/>
                </a:solidFill>
              </a:defRPr>
            </a:pPr>
            <a:r>
              <a:t>• Delayed crop disease diagnosis leads to severe yield losses (up to 30% annually).</a:t>
            </a:r>
          </a:p>
          <a:p>
            <a:pPr>
              <a:defRPr sz="1200">
                <a:solidFill>
                  <a:srgbClr val="607367"/>
                </a:solidFill>
              </a:defRPr>
            </a:pPr>
            <a:r>
              <a:t>• Lack of localized, microclimate-aware personalized farming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030" y="1371600"/>
            <a:ext cx="34747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8030" y="1371600"/>
            <a:ext cx="3474720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0910" y="160020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💡 AgriSahay Solution</a:t>
            </a:r>
          </a:p>
          <a:p>
            <a:pPr>
              <a:defRPr sz="1300" b="1">
                <a:solidFill>
                  <a:srgbClr val="1A2E22"/>
                </a:solidFill>
              </a:defRPr>
            </a:pPr>
            <a:r>
              <a:t>Unified AI-Powered Decision Support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607367"/>
                </a:solidFill>
              </a:defRPr>
            </a:pPr>
            <a:r>
              <a:t>• All-in-one web platform integrating real-time computer vision and multimodal Gemini AI.</a:t>
            </a:r>
          </a:p>
          <a:p>
            <a:pPr>
              <a:defRPr sz="1200">
                <a:solidFill>
                  <a:srgbClr val="607367"/>
                </a:solidFill>
              </a:defRPr>
            </a:pPr>
            <a:r>
              <a:t>• Instant crop disease detection with organic and chemical remedy suggestions.</a:t>
            </a:r>
          </a:p>
          <a:p>
            <a:pPr>
              <a:defRPr sz="1200">
                <a:solidFill>
                  <a:srgbClr val="607367"/>
                </a:solidFill>
              </a:defRPr>
            </a:pPr>
            <a:r>
              <a:t>• Smart crop selection based on soil parameters, NPK values, and live weather telemetry.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7420" y="1371600"/>
            <a:ext cx="34747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7420" y="1371600"/>
            <a:ext cx="3474720" cy="109728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0300" y="160020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4D2B"/>
                </a:solidFill>
              </a:defRPr>
            </a:pPr>
            <a:r>
              <a:t>🌟 Expected Impact</a:t>
            </a:r>
          </a:p>
          <a:p>
            <a:pPr>
              <a:defRPr sz="1300" b="1">
                <a:solidFill>
                  <a:srgbClr val="1A2E22"/>
                </a:solidFill>
              </a:defRPr>
            </a:pPr>
            <a:r>
              <a:t>Productivity &amp; Economic Enhancement</a:t>
            </a:r>
          </a:p>
          <a:p>
            <a:pPr>
              <a:defRPr sz="600"/>
            </a:pPr>
          </a:p>
          <a:p>
            <a:pPr>
              <a:defRPr sz="1200">
                <a:solidFill>
                  <a:srgbClr val="607367"/>
                </a:solidFill>
              </a:defRPr>
            </a:pPr>
            <a:r>
              <a:t>• Empowers rural farmers with instant, 24/7 AI-driven agricultural advisory.</a:t>
            </a:r>
          </a:p>
          <a:p>
            <a:pPr>
              <a:defRPr sz="1200">
                <a:solidFill>
                  <a:srgbClr val="607367"/>
                </a:solidFill>
              </a:defRPr>
            </a:pPr>
            <a:r>
              <a:t>• Reduces crop losses by early disease detection and proactive weather alerts.</a:t>
            </a:r>
          </a:p>
          <a:p>
            <a:pPr>
              <a:defRPr sz="1200">
                <a:solidFill>
                  <a:srgbClr val="607367"/>
                </a:solidFill>
              </a:defRPr>
            </a:pPr>
            <a:r>
              <a:t>• Simplifies government scheme accessibility for smallholder farmers.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  <a:latin typeface="Calibri"/>
              </a:defRPr>
            </a:pPr>
            <a:r>
              <a:t>AGRISAHAY AI | AI-POWERED AGRICULTURE DECISION SUPPORT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🚀 Introduction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🌾 Agricultural Background &amp; Bottlenecks</a:t>
            </a:r>
          </a:p>
          <a:p>
            <a:pPr>
              <a:defRPr sz="1300" b="1">
                <a:solidFill>
                  <a:srgbClr val="1A2E22"/>
                </a:solidFill>
              </a:defRPr>
            </a:pPr>
            <a:r>
              <a:t>▶ Vulnerable Rural Economy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Agriculture sustains over 50% of the population, yet decision-making remains highly traditional and vulnerable to climate shifts.</a:t>
            </a:r>
          </a:p>
          <a:p>
            <a:pPr>
              <a:defRPr sz="1300" b="1">
                <a:solidFill>
                  <a:srgbClr val="1A2E22"/>
                </a:solidFill>
              </a:defRPr>
            </a:pPr>
            <a:r>
              <a:t>▶ Microclimate Volatility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Unpredictable rainfall patterns and sudden temperature spikes heavily affect crop yields without timely alerts.</a:t>
            </a:r>
          </a:p>
          <a:p>
            <a:pPr>
              <a:defRPr sz="1300" b="1">
                <a:solidFill>
                  <a:srgbClr val="1A2E22"/>
                </a:solidFill>
              </a:defRPr>
            </a:pPr>
            <a:r>
              <a:t>▶ Information Asymmetry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Farmers lack direct access to localized market prices, resulting in exploitation by intermediaries.</a:t>
            </a:r>
          </a:p>
          <a:p>
            <a:pPr>
              <a:defRPr sz="1300" b="1">
                <a:solidFill>
                  <a:srgbClr val="1A2E22"/>
                </a:solidFill>
              </a:defRPr>
            </a:pPr>
            <a:r>
              <a:t>▶ Limited Expert Accessibility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Agricultural extension officers are scarce, causing days of delay when diagnosing crop diseases.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371600"/>
            <a:ext cx="53949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4D2B"/>
                </a:solidFill>
              </a:defRPr>
            </a:pPr>
            <a:r>
              <a:t>🎯 Project Objectives &amp; Core Scope</a:t>
            </a:r>
          </a:p>
          <a:p>
            <a:pPr>
              <a:defRPr sz="1300" b="1">
                <a:solidFill>
                  <a:srgbClr val="1A2E22"/>
                </a:solidFill>
              </a:defRPr>
            </a:pPr>
            <a:r>
              <a:t>✔ 🤖 AI Farming Advisory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Deploy Google Gemini API to provide 24/7 conversational assistance for customized crop management.</a:t>
            </a:r>
          </a:p>
          <a:p>
            <a:pPr>
              <a:defRPr sz="1300" b="1">
                <a:solidFill>
                  <a:srgbClr val="1A2E22"/>
                </a:solidFill>
              </a:defRPr>
            </a:pPr>
            <a:r>
              <a:t>✔ 🦠 Early Disease Vision AI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Enable instant leaf scan analysis to diagnose diseases and offer chemical &amp; biological remedies.</a:t>
            </a:r>
          </a:p>
          <a:p>
            <a:pPr>
              <a:defRPr sz="1300" b="1">
                <a:solidFill>
                  <a:srgbClr val="1A2E22"/>
                </a:solidFill>
              </a:defRPr>
            </a:pPr>
            <a:r>
              <a:t>✔ 🌦 Weather &amp; Telemetry Integration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Integrate OpenWeather API for dynamic rain forecasts, humidity telemetry, and irrigation advice.</a:t>
            </a:r>
          </a:p>
          <a:p>
            <a:pPr>
              <a:defRPr sz="1300" b="1">
                <a:solidFill>
                  <a:srgbClr val="1A2E22"/>
                </a:solidFill>
              </a:defRPr>
            </a:pPr>
            <a:r>
              <a:t>✔ 🏛 Schemes &amp; Market Hub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Consolidate central government schemes and market pricing analytics into a simplified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  <a:latin typeface="Calibri"/>
              </a:defRPr>
            </a:pPr>
            <a:r>
              <a:t>AGRISAHAY AI | AI-POWERED AGRICULTURE DECISION SUPPORT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📚 Literature Survey (Base Papers)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109728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E22"/>
                </a:solidFill>
              </a:defRPr>
            </a:pPr>
            <a:r>
              <a:t>Paper 1: Patel et al. (2023) | Machine Learning in Precision Agriculture</a:t>
            </a:r>
          </a:p>
          <a:p>
            <a:pPr>
              <a:defRPr sz="1050">
                <a:solidFill>
                  <a:srgbClr val="2E7D32"/>
                </a:solidFill>
              </a:defRPr>
            </a:pPr>
            <a:r>
              <a:t>Key Contribution: Proposed ML models for crop yield prediction based on soil NPK.</a:t>
            </a:r>
          </a:p>
          <a:p>
            <a:pPr>
              <a:defRPr sz="1000">
                <a:solidFill>
                  <a:srgbClr val="607367"/>
                </a:solidFill>
              </a:defRPr>
            </a:pPr>
            <a:r>
              <a:t>Identified Gap: Lacks real-time market price integration and computer vision disease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109728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E22"/>
                </a:solidFill>
              </a:defRPr>
            </a:pPr>
            <a:r>
              <a:t>Paper 2: Sharma &amp; Kumar (2023) | Leaf Disease Classification via DCNN</a:t>
            </a:r>
          </a:p>
          <a:p>
            <a:pPr>
              <a:defRPr sz="1050">
                <a:solidFill>
                  <a:srgbClr val="2E7D32"/>
                </a:solidFill>
              </a:defRPr>
            </a:pPr>
            <a:r>
              <a:t>Key Contribution: Achieved 92% accuracy using ResNet architectures on plant leaf datasets.</a:t>
            </a:r>
          </a:p>
          <a:p>
            <a:pPr>
              <a:defRPr sz="1000">
                <a:solidFill>
                  <a:srgbClr val="607367"/>
                </a:solidFill>
              </a:defRPr>
            </a:pPr>
            <a:r>
              <a:t>Identified Gap: Standalone model without conversational AI or irrigation telemetry.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109728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461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E22"/>
                </a:solidFill>
              </a:defRPr>
            </a:pPr>
            <a:r>
              <a:t>Paper 3: Gomez et al. (2024) | IoT &amp; Telemetry Weather Advisory</a:t>
            </a:r>
          </a:p>
          <a:p>
            <a:pPr>
              <a:defRPr sz="1050">
                <a:solidFill>
                  <a:srgbClr val="2E7D32"/>
                </a:solidFill>
              </a:defRPr>
            </a:pPr>
            <a:r>
              <a:t>Key Contribution: Integrated hardware sensors for microclimate monitoring.</a:t>
            </a:r>
          </a:p>
          <a:p>
            <a:pPr>
              <a:defRPr sz="1000">
                <a:solidFill>
                  <a:srgbClr val="607367"/>
                </a:solidFill>
              </a:defRPr>
            </a:pPr>
            <a:r>
              <a:t>Identified Gap: High hardware cost; lacks LLM decision reasoning and rural usability.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109728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E22"/>
                </a:solidFill>
              </a:defRPr>
            </a:pPr>
            <a:r>
              <a:t>Paper 4: Singh et al. (2024) | Agri-Market Price Forecasting</a:t>
            </a:r>
          </a:p>
          <a:p>
            <a:pPr>
              <a:defRPr sz="1050">
                <a:solidFill>
                  <a:srgbClr val="2E7D32"/>
                </a:solidFill>
              </a:defRPr>
            </a:pPr>
            <a:r>
              <a:t>Key Contribution: Utilized time-series forecasting for Mandi crop prices.</a:t>
            </a:r>
          </a:p>
          <a:p>
            <a:pPr>
              <a:defRPr sz="1000">
                <a:solidFill>
                  <a:srgbClr val="607367"/>
                </a:solidFill>
              </a:defRPr>
            </a:pPr>
            <a:r>
              <a:t>Identified Gap: Limited to market trends; does not provide disease remedies or schemes.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120640"/>
            <a:ext cx="109728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E22"/>
                </a:solidFill>
              </a:defRPr>
            </a:pPr>
            <a:r>
              <a:t>Paper 5: AgriTech Research (2025) | LLMs in Rural Advisory Systems</a:t>
            </a:r>
          </a:p>
          <a:p>
            <a:pPr>
              <a:defRPr sz="1050">
                <a:solidFill>
                  <a:srgbClr val="2E7D32"/>
                </a:solidFill>
              </a:defRPr>
            </a:pPr>
            <a:r>
              <a:t>Key Contribution: Explored GPT/Gemini models for agricultural Q&amp;A.</a:t>
            </a:r>
          </a:p>
          <a:p>
            <a:pPr>
              <a:defRPr sz="1000">
                <a:solidFill>
                  <a:srgbClr val="607367"/>
                </a:solidFill>
              </a:defRPr>
            </a:pPr>
            <a:r>
              <a:t>Identified Gap: Lacks integrated multi-module portal (schemes, weather, and vision).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6080760"/>
            <a:ext cx="11094415" cy="548640"/>
          </a:xfrm>
          <a:prstGeom prst="round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💡 AGRISAHAY AI GAP FULFILLMENT: Combines Vision AI + Weather Telemetry + Gemini LLM + Market &amp; Schemes into a single zero-hardware web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  <a:latin typeface="Calibri"/>
              </a:defRPr>
            </a:pPr>
            <a:r>
              <a:t>AGRISAHAY AI | AI-POWERED AGRICULTURE DECISION SUPPORT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⚔️ Existing System vs Proposed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❌ EXISTING TRADITIONAL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C62828"/>
                </a:solidFill>
              </a:defRPr>
            </a:pPr>
            <a:r>
              <a:t>• Fragmented Platforms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Farmers navigate multiple uncoordinated applications and websites for weather, price, and crop information.</a:t>
            </a:r>
          </a:p>
          <a:p>
            <a:pPr>
              <a:defRPr sz="1200" b="1">
                <a:solidFill>
                  <a:srgbClr val="C62828"/>
                </a:solidFill>
              </a:defRPr>
            </a:pPr>
            <a:r>
              <a:t>• Delayed Disease Diagnosis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Manual lab testing or expert field visits take 3 to 5 days, allowing crop diseases to spread.</a:t>
            </a:r>
          </a:p>
          <a:p>
            <a:pPr>
              <a:defRPr sz="1200" b="1">
                <a:solidFill>
                  <a:srgbClr val="C62828"/>
                </a:solidFill>
              </a:defRPr>
            </a:pPr>
            <a:r>
              <a:t>• Generic Crop Guidance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Static agricultural pamphlets without consideration for live microclimate or soil nutrient variations.</a:t>
            </a:r>
          </a:p>
          <a:p>
            <a:pPr>
              <a:defRPr sz="1200" b="1">
                <a:solidFill>
                  <a:srgbClr val="C62828"/>
                </a:solidFill>
              </a:defRPr>
            </a:pPr>
            <a:r>
              <a:t>• Complex Scheme Access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Information about government schemes remains hidden inside cumbersome official PDF portals.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371600"/>
            <a:ext cx="539496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095" y="1371600"/>
            <a:ext cx="539496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✅ PROPOSED AGRISAHAY AI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0975" y="192024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2E7D32"/>
                </a:solidFill>
              </a:defRPr>
            </a:pPr>
            <a:r>
              <a:t>✔ Unified Single Dashboard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All-in-one intelligent web portal aggregating crop, weather, disease, market, and scheme tools.</a:t>
            </a:r>
          </a:p>
          <a:p>
            <a:pPr>
              <a:defRPr sz="1200" b="1">
                <a:solidFill>
                  <a:srgbClr val="2E7D32"/>
                </a:solidFill>
              </a:defRPr>
            </a:pPr>
            <a:r>
              <a:t>✔ Instant Vision AI Diagnosis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Real-time crop leaf image diagnosis with multi-modal Gemini AI within seconds (&lt;2s).</a:t>
            </a:r>
          </a:p>
          <a:p>
            <a:pPr>
              <a:defRPr sz="1200" b="1">
                <a:solidFill>
                  <a:srgbClr val="2E7D32"/>
                </a:solidFill>
              </a:defRPr>
            </a:pPr>
            <a:r>
              <a:t>✔ Dynamic Telemetry Advisory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Combines OpenWeather live data with Gemini LLM to yield personalized irrigation &amp; fertilizer plans.</a:t>
            </a:r>
          </a:p>
          <a:p>
            <a:pPr>
              <a:defRPr sz="1200" b="1">
                <a:solidFill>
                  <a:srgbClr val="2E7D32"/>
                </a:solidFill>
              </a:defRPr>
            </a:pPr>
            <a:r>
              <a:t>✔ Simplified Scheme Portal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Curated government scheme finder with direct eligibility criteria and application pathways.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  <a:latin typeface="Calibri"/>
              </a:defRPr>
            </a:pPr>
            <a:r>
              <a:t>AGRISAHAY AI | AI-POWERED AGRICULTURE DECISION SUPPORT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🔄 Proposed Methodology (Execution Pipeline)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777240" cy="7772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50876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1. Registration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User Account &amp; Farm Profile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60320"/>
            <a:ext cx="53949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697480"/>
            <a:ext cx="777240" cy="7772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9748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2. Location Detection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GPS Telemetry &amp; Regional Parsing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40"/>
            <a:ext cx="53949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3886200"/>
            <a:ext cx="777240" cy="7772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88620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3. Weather API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OpenWeather Microclimate Data Fetch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7760"/>
            <a:ext cx="53949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5074920"/>
            <a:ext cx="777240" cy="7772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7492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4. Disease Detection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Crop Leaf Upload &amp; Vision AI Scan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095" y="1371600"/>
            <a:ext cx="53949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5255" y="1508760"/>
            <a:ext cx="777240" cy="7772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9655" y="150876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5. Crop Recommendation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Soil NPK &amp; Weather Data Match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8095" y="2560320"/>
            <a:ext cx="53949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85255" y="2697480"/>
            <a:ext cx="777240" cy="7772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9655" y="269748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6. AI Decision Engine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Google Gemini LLM Contextual Synthesis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8095" y="3749040"/>
            <a:ext cx="53949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85255" y="3886200"/>
            <a:ext cx="777240" cy="7772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9655" y="388620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7. Government Schemes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Automated Policy Eligibility Finder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8095" y="4937760"/>
            <a:ext cx="53949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85255" y="5074920"/>
            <a:ext cx="777240" cy="7772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  <a: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9655" y="507492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8. Dashboard Output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Actionable Guidance &amp; Alert Cards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  <a:latin typeface="Calibri"/>
              </a:defRPr>
            </a:pPr>
            <a:r>
              <a:t>AGRISAHAY AI | AI-POWERED AGRICULTURE DECISION SUPPORT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🏗️ System Architecture (Layered Structure)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2926080" cy="868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👨‍🌾 User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37160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2E22"/>
                </a:solidFill>
              </a:defRPr>
            </a:pPr>
            <a:r>
              <a:t>Farmer / Agri-User Interface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Technologies: Responsive Web Client (Desktop, Tablet, Mobile Web Browsers)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286000"/>
            <a:ext cx="2926080" cy="868680"/>
          </a:xfrm>
          <a:prstGeom prst="round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💻 Presentation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7744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2E22"/>
                </a:solidFill>
              </a:defRPr>
            </a:pPr>
            <a:r>
              <a:t>React.js + Vite Frontend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Technologies: React 18, Tailwind CSS, Lucide React, Leaflet Maps, Chart.js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9184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291840"/>
            <a:ext cx="2926080" cy="868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🔌 API Gateway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3832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2E22"/>
                </a:solidFill>
              </a:defRPr>
            </a:pPr>
            <a:r>
              <a:t>REST API Communication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Technologies: Axios HTTP Protocol, JSON DTO Serialization, JWT Auth 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9768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297680"/>
            <a:ext cx="2926080" cy="868680"/>
          </a:xfrm>
          <a:prstGeom prst="round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⚙️ Application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3891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2E22"/>
                </a:solidFill>
              </a:defRPr>
            </a:pPr>
            <a:r>
              <a:t>Spring Boot Service Layer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Technologies: Java 21, Spring Security, Spring Data JPA, REST Controllers, Service Beans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0352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2926080" cy="8686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🗄️ Intelligence &amp;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3949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2E22"/>
                </a:solidFill>
              </a:defRPr>
            </a:pPr>
            <a:r>
              <a:t>MySQL &amp; Cloud AI Engines</a:t>
            </a:r>
          </a:p>
          <a:p>
            <a:pPr>
              <a:defRPr sz="1100">
                <a:solidFill>
                  <a:srgbClr val="607367"/>
                </a:solidFill>
              </a:defRPr>
            </a:pPr>
            <a:r>
              <a:t>Technologies: MySQL Database | Google Gemini Vision API | OpenWeather API | Scheme Feeds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  <a:latin typeface="Calibri"/>
              </a:defRPr>
            </a:pPr>
            <a:r>
              <a:t>AGRISAHAY AI | AI-POWERED AGRICULTURE DECISION SUPPORT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🧩 System Modules (8 Core Features)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6517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94360" cy="5943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👤 Farmer Profile</a:t>
            </a:r>
          </a:p>
          <a:p>
            <a:pPr>
              <a:defRPr sz="1050">
                <a:solidFill>
                  <a:srgbClr val="607367"/>
                </a:solidFill>
              </a:defRPr>
            </a:pPr>
            <a:r>
              <a:t>Personalized farm location, soil type, crop history, and user settings.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371600"/>
            <a:ext cx="26517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47872" y="1554480"/>
            <a:ext cx="594360" cy="5943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194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🌾 Crop Recommendation</a:t>
            </a:r>
          </a:p>
          <a:p>
            <a:pPr>
              <a:defRPr sz="1050">
                <a:solidFill>
                  <a:srgbClr val="607367"/>
                </a:solidFill>
              </a:defRPr>
            </a:pPr>
            <a:r>
              <a:t>AI matching of optimal crops using NPK parameters, pH &amp; climate.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71600"/>
            <a:ext cx="26517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64224" y="1554480"/>
            <a:ext cx="594360" cy="5943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194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🦠 Disease Detection</a:t>
            </a:r>
          </a:p>
          <a:p>
            <a:pPr>
              <a:defRPr sz="1050">
                <a:solidFill>
                  <a:srgbClr val="607367"/>
                </a:solidFill>
              </a:defRPr>
            </a:pPr>
            <a:r>
              <a:t>Instant leaf scan diagnosis with organic &amp; chemical remedy advice.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1371600"/>
            <a:ext cx="26517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80576" y="1554480"/>
            <a:ext cx="594360" cy="5943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21945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🌦 Weather Intelligence</a:t>
            </a:r>
          </a:p>
          <a:p>
            <a:pPr>
              <a:defRPr sz="1050">
                <a:solidFill>
                  <a:srgbClr val="607367"/>
                </a:solidFill>
              </a:defRPr>
            </a:pPr>
            <a:r>
              <a:t>Live weather telemetry, 7-day forecasts &amp; rain precipitation alerts.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40480"/>
            <a:ext cx="26517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594360" cy="5943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🏛 Government Schemes</a:t>
            </a:r>
          </a:p>
          <a:p>
            <a:pPr>
              <a:defRPr sz="1050">
                <a:solidFill>
                  <a:srgbClr val="607367"/>
                </a:solidFill>
              </a:defRPr>
            </a:pPr>
            <a:r>
              <a:t>Curated government subsidy finder with direct application links.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64992" y="3840480"/>
            <a:ext cx="26517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47872" y="4023360"/>
            <a:ext cx="594360" cy="5943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663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🤖 AI Assistant</a:t>
            </a:r>
          </a:p>
          <a:p>
            <a:pPr>
              <a:defRPr sz="1050">
                <a:solidFill>
                  <a:srgbClr val="607367"/>
                </a:solidFill>
              </a:defRPr>
            </a:pPr>
            <a:r>
              <a:t>Gemini-powered 24/7 conversational bot for real-time agricultural Q&amp;A.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840480"/>
            <a:ext cx="26517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64224" y="4023360"/>
            <a:ext cx="594360" cy="5943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4663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📈 Yield Prediction</a:t>
            </a:r>
          </a:p>
          <a:p>
            <a:pPr>
              <a:defRPr sz="1050">
                <a:solidFill>
                  <a:srgbClr val="607367"/>
                </a:solidFill>
              </a:defRPr>
            </a:pPr>
            <a:r>
              <a:t>Predictive estimation of harvest yield based on soil &amp; weather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7696" y="3840480"/>
            <a:ext cx="26517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4023360"/>
            <a:ext cx="594360" cy="5943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4663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E7D32"/>
                </a:solidFill>
              </a:defRPr>
            </a:pPr>
            <a:r>
              <a:t>📊 Smart Dashboard</a:t>
            </a:r>
          </a:p>
          <a:p>
            <a:pPr>
              <a:defRPr sz="1050">
                <a:solidFill>
                  <a:srgbClr val="607367"/>
                </a:solidFill>
              </a:defRPr>
            </a:pPr>
            <a:r>
              <a:t>Central hub visualizing weather, disease alerts, market prices &amp; tasks.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  <a:latin typeface="Calibri"/>
              </a:defRPr>
            </a:pPr>
            <a:r>
              <a:t>AGRISAHAY AI | AI-POWERED AGRICULTURE DECISION SUPPORT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🛠️ Technology Stack &amp; Environment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9441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2926080" cy="7772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🎨 Frontend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41732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E22"/>
                </a:solidFill>
              </a:defRPr>
            </a:pPr>
            <a:r>
              <a:t>React.js, Vite, HTML5, CSS3, JavaScript (ES6+), Tailwind CSS, Framer Motion, Lucide Icons, Leaflet Maps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48840"/>
            <a:ext cx="1109441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2926080" cy="777240"/>
          </a:xfrm>
          <a:prstGeom prst="round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⚡ Backend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E22"/>
                </a:solidFill>
              </a:defRPr>
            </a:pPr>
            <a:r>
              <a:t>Java 21, Spring Boot 3.x, Spring Security, Spring Data JPA, RESTful Web Services, Maven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9441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2926080" cy="7772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🗄️ Database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546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E22"/>
                </a:solidFill>
              </a:defRPr>
            </a:pPr>
            <a:r>
              <a:t>MySQL 8.0 Relational Database, Hibernate ORM, Connection Pooling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1109441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2926080" cy="777240"/>
          </a:xfrm>
          <a:prstGeom prst="round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🧠 Artificial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02336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E22"/>
                </a:solidFill>
              </a:defRPr>
            </a:pPr>
            <a:r>
              <a:t>Google Gemini API (Multimodal Vision &amp; Conversational Gemini Engine)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54880"/>
            <a:ext cx="1109441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4754880"/>
            <a:ext cx="2926080" cy="7772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🌐 External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892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E22"/>
                </a:solidFill>
              </a:defRPr>
            </a:pPr>
            <a:r>
              <a:t>OpenWeather API (Live Weather &amp; Forecasts), Government Agri-Data Feeds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9441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2926080" cy="777240"/>
          </a:xfrm>
          <a:prstGeom prst="round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🚀 Deployment &amp; DevOps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76072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2E22"/>
                </a:solidFill>
              </a:defRPr>
            </a:pPr>
            <a:r>
              <a:t>Vercel (Frontend Hosting), Render (Backend Hosting), GitHub (Version Control)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  <a:latin typeface="Calibri"/>
              </a:defRPr>
            </a:pPr>
            <a:r>
              <a:t>AGRISAHAY AI | AI-POWERED AGRICULTURE DECISION SUPPORT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🖼️ Results &amp; Discussion (Interface Previews)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📊 Smart Dashboard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20"/>
            <a:ext cx="5029200" cy="1645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[ UI SCREENSHOT MOCKUP PREVIEW ]</a:t>
            </a:r>
          </a:p>
          <a:p>
            <a:pPr>
              <a:defRPr sz="1050">
                <a:solidFill>
                  <a:srgbClr val="1A2E22"/>
                </a:solidFill>
              </a:defRPr>
            </a:pPr>
            <a:r>
              <a:t>• Overview metrics for weather, soil NPK, and active alerts.</a:t>
            </a:r>
          </a:p>
          <a:p>
            <a:pPr>
              <a:defRPr sz="1050">
                <a:solidFill>
                  <a:srgbClr val="1A2E22"/>
                </a:solidFill>
              </a:defRPr>
            </a:pPr>
            <a:r>
              <a:t>• Quick action cards for disease scanning &amp; market check.</a:t>
            </a:r>
          </a:p>
          <a:p>
            <a:pPr>
              <a:defRPr sz="1050">
                <a:solidFill>
                  <a:srgbClr val="1A2E22"/>
                </a:solidFill>
              </a:defRPr>
            </a:pPr>
            <a:r>
              <a:t>• Responsive layout adapted for mobile and desktop 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6830" y="1371600"/>
            <a:ext cx="5394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6830" y="1371600"/>
            <a:ext cx="5394960" cy="36576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🦠 Leaf Disease Detection Screen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9710" y="1874520"/>
            <a:ext cx="5029200" cy="1645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[ UI SCREENSHOT MOCKUP PREVIEW ]</a:t>
            </a:r>
          </a:p>
          <a:p>
            <a:pPr>
              <a:defRPr sz="1050">
                <a:solidFill>
                  <a:srgbClr val="1A2E22"/>
                </a:solidFill>
              </a:defRPr>
            </a:pPr>
            <a:r>
              <a:t>• Image Drag-and-Drop upload for crop leaves.</a:t>
            </a:r>
          </a:p>
          <a:p>
            <a:pPr>
              <a:defRPr sz="1050">
                <a:solidFill>
                  <a:srgbClr val="1A2E22"/>
                </a:solidFill>
              </a:defRPr>
            </a:pPr>
            <a:r>
              <a:t>• AI Vision Output: Tomato Early Blight (96% Confidence).</a:t>
            </a:r>
          </a:p>
          <a:p>
            <a:pPr>
              <a:defRPr sz="1050">
                <a:solidFill>
                  <a:srgbClr val="1A2E22"/>
                </a:solidFill>
              </a:defRPr>
            </a:pPr>
            <a:r>
              <a:t>• Actionable remedy cards detailing chemical &amp; organic treatments.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394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840480"/>
            <a:ext cx="539496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🌦 Weather Intelligence Screen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43400"/>
            <a:ext cx="5029200" cy="1645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[ UI SCREENSHOT MOCKUP PREVIEW ]</a:t>
            </a:r>
          </a:p>
          <a:p>
            <a:pPr>
              <a:defRPr sz="1050">
                <a:solidFill>
                  <a:srgbClr val="1A2E22"/>
                </a:solidFill>
              </a:defRPr>
            </a:pPr>
            <a:r>
              <a:t>• Live temperature (28°C), humidity (65%), and wind speed telemetry.</a:t>
            </a:r>
          </a:p>
          <a:p>
            <a:pPr>
              <a:defRPr sz="1050">
                <a:solidFill>
                  <a:srgbClr val="1A2E22"/>
                </a:solidFill>
              </a:defRPr>
            </a:pPr>
            <a:r>
              <a:t>• 7-Day rainfall probability &amp; microclimate forecasting.</a:t>
            </a:r>
          </a:p>
          <a:p>
            <a:pPr>
              <a:defRPr sz="1050">
                <a:solidFill>
                  <a:srgbClr val="1A2E22"/>
                </a:solidFill>
              </a:defRPr>
            </a:pPr>
            <a:r>
              <a:t>• Irrigation advisory matching soil moisture levels.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6830" y="3840480"/>
            <a:ext cx="5394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6830" y="3840480"/>
            <a:ext cx="5394960" cy="36576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💬 Gemini AI Farming Assistant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9710" y="4343400"/>
            <a:ext cx="5029200" cy="1645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[ UI SCREENSHOT MOCKUP PREVIEW ]</a:t>
            </a:r>
          </a:p>
          <a:p>
            <a:pPr>
              <a:defRPr sz="1050">
                <a:solidFill>
                  <a:srgbClr val="1A2E22"/>
                </a:solidFill>
              </a:defRPr>
            </a:pPr>
            <a:r>
              <a:t>• Real-time conversational interface for crop advisory.</a:t>
            </a:r>
          </a:p>
          <a:p>
            <a:pPr>
              <a:defRPr sz="1050">
                <a:solidFill>
                  <a:srgbClr val="1A2E22"/>
                </a:solidFill>
              </a:defRPr>
            </a:pPr>
            <a:r>
              <a:t>• Multilingual prompt understanding &amp; rural farming context.</a:t>
            </a:r>
          </a:p>
          <a:p>
            <a:pPr>
              <a:defRPr sz="1050">
                <a:solidFill>
                  <a:srgbClr val="1A2E22"/>
                </a:solidFill>
              </a:defRPr>
            </a:pPr>
            <a:r>
              <a:t>• Instant response generation (&lt;1.2 seconds latency).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  <a:latin typeface="Calibri"/>
              </a:defRPr>
            </a:pPr>
            <a:r>
              <a:t>AGRISAHAY AI | AI-POWERED AGRICULTURE DECISION SUPPORT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📊 Performance Measures &amp; System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56616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E22"/>
                </a:solidFill>
              </a:defRPr>
            </a:pPr>
            <a:r>
              <a:t>🎯 Accuracy</a:t>
            </a:r>
          </a:p>
          <a:p>
            <a:pPr algn="ctr">
              <a:defRPr sz="3600" b="1">
                <a:solidFill>
                  <a:srgbClr val="2E7D32"/>
                </a:solidFill>
              </a:defRPr>
            </a:pPr>
            <a:r>
              <a:t>95%</a:t>
            </a:r>
          </a:p>
          <a:p>
            <a:pPr algn="ctr">
              <a:defRPr sz="1100">
                <a:solidFill>
                  <a:srgbClr val="607367"/>
                </a:solidFill>
              </a:defRPr>
            </a:pPr>
            <a:r>
              <a:t>Disease Diagnosis &amp; Crop Matching 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37160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371600"/>
            <a:ext cx="3566160" cy="9144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55448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E22"/>
                </a:solidFill>
              </a:defRPr>
            </a:pPr>
            <a:r>
              <a:t>⚡ Latency</a:t>
            </a:r>
          </a:p>
          <a:p>
            <a:pPr algn="ctr">
              <a:defRPr sz="3600" b="1">
                <a:solidFill>
                  <a:srgbClr val="184D2B"/>
                </a:solidFill>
              </a:defRPr>
            </a:pPr>
            <a:r>
              <a:t>&lt; 1 sec</a:t>
            </a:r>
          </a:p>
          <a:p>
            <a:pPr algn="ctr">
              <a:defRPr sz="1100">
                <a:solidFill>
                  <a:srgbClr val="607367"/>
                </a:solidFill>
              </a:defRPr>
            </a:pPr>
            <a:r>
              <a:t>Average End-to-End API Response Speed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37160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371600"/>
            <a:ext cx="356616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155448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E22"/>
                </a:solidFill>
              </a:defRPr>
            </a:pPr>
            <a:r>
              <a:t>🌐 Availability</a:t>
            </a:r>
          </a:p>
          <a:p>
            <a:pPr algn="ctr">
              <a:defRPr sz="3600" b="1">
                <a:solidFill>
                  <a:srgbClr val="2E7D32"/>
                </a:solidFill>
              </a:defRPr>
            </a:pPr>
            <a:r>
              <a:t>99%</a:t>
            </a:r>
          </a:p>
          <a:p>
            <a:pPr algn="ctr">
              <a:defRPr sz="1100">
                <a:solidFill>
                  <a:srgbClr val="607367"/>
                </a:solidFill>
              </a:defRPr>
            </a:pPr>
            <a:r>
              <a:t>System High-Availability Uptime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3566160" cy="9144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E22"/>
                </a:solidFill>
              </a:defRPr>
            </a:pPr>
            <a:r>
              <a:t>🔒 Security</a:t>
            </a:r>
          </a:p>
          <a:p>
            <a:pPr algn="ctr">
              <a:defRPr sz="3600" b="1">
                <a:solidFill>
                  <a:srgbClr val="184D2B"/>
                </a:solidFill>
              </a:defRPr>
            </a:pPr>
            <a:r>
              <a:t>JWT</a:t>
            </a:r>
          </a:p>
          <a:p>
            <a:pPr algn="ctr">
              <a:defRPr sz="1100">
                <a:solidFill>
                  <a:srgbClr val="607367"/>
                </a:solidFill>
              </a:defRPr>
            </a:pPr>
            <a:r>
              <a:t>Stateless Token Auth &amp; Encrypted Gateway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384048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3840480"/>
            <a:ext cx="3566160" cy="91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402336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E22"/>
                </a:solidFill>
              </a:defRPr>
            </a:pPr>
            <a:r>
              <a:t>📈 Scalability</a:t>
            </a:r>
          </a:p>
          <a:p>
            <a:pPr algn="ctr">
              <a:defRPr sz="3600" b="1">
                <a:solidFill>
                  <a:srgbClr val="2E7D32"/>
                </a:solidFill>
              </a:defRPr>
            </a:pPr>
            <a:r>
              <a:t>High</a:t>
            </a:r>
          </a:p>
          <a:p>
            <a:pPr algn="ctr">
              <a:defRPr sz="1100">
                <a:solidFill>
                  <a:srgbClr val="607367"/>
                </a:solidFill>
              </a:defRPr>
            </a:pPr>
            <a:r>
              <a:t>Modular Architecture &amp; Spring Boot Backend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3840480"/>
            <a:ext cx="35661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19" y="3840480"/>
            <a:ext cx="3566160" cy="9144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9" y="402336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2E22"/>
                </a:solidFill>
              </a:defRPr>
            </a:pPr>
            <a:r>
              <a:t>📱 UI Usability</a:t>
            </a:r>
          </a:p>
          <a:p>
            <a:pPr algn="ctr">
              <a:defRPr sz="3600" b="1">
                <a:solidFill>
                  <a:srgbClr val="184D2B"/>
                </a:solidFill>
              </a:defRPr>
            </a:pPr>
            <a:r>
              <a:t>Responsive</a:t>
            </a:r>
          </a:p>
          <a:p>
            <a:pPr algn="ctr">
              <a:defRPr sz="1100">
                <a:solidFill>
                  <a:srgbClr val="607367"/>
                </a:solidFill>
              </a:defRPr>
            </a:pPr>
            <a:r>
              <a:t>Cross-device Mobile &amp; Desktop Optimization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  <a:latin typeface="Calibri"/>
              </a:defRPr>
            </a:pPr>
            <a:r>
              <a:t>AGRISAHAY AI | AI-POWERED AGRICULTURE DECISION SUPPORT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🎯 Conclusion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4415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3716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💡 Unified Agricultural Portal</a:t>
            </a:r>
          </a:p>
          <a:p>
            <a:pPr>
              <a:defRPr sz="1300">
                <a:solidFill>
                  <a:srgbClr val="1A2E22"/>
                </a:solidFill>
              </a:defRPr>
            </a:pPr>
            <a:r>
              <a:t>AgriSahay AI successfully eliminates information fragmentation by aggregating weather, crop recommendation, disease diagnosis, market prices, and government schemes into a single responsive web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11094415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137160" cy="146304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4D2B"/>
                </a:solidFill>
              </a:defRPr>
            </a:pPr>
            <a:r>
              <a:t>🤖 AI-Driven Decision Support</a:t>
            </a:r>
          </a:p>
          <a:p>
            <a:pPr>
              <a:defRPr sz="1300">
                <a:solidFill>
                  <a:srgbClr val="1A2E22"/>
                </a:solidFill>
              </a:defRPr>
            </a:pPr>
            <a:r>
              <a:t>By leveraging Google Gemini API for multimodal vision and conversational intelligence, farmers receive instant, actionable advisory for crop protection and fertilizer optimization.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63440"/>
            <a:ext cx="11094415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663440"/>
            <a:ext cx="13716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80060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🌾 Practical Rural Empowerment</a:t>
            </a:r>
          </a:p>
          <a:p>
            <a:pPr>
              <a:defRPr sz="1300">
                <a:solidFill>
                  <a:srgbClr val="1A2E22"/>
                </a:solidFill>
              </a:defRPr>
            </a:pPr>
            <a:r>
              <a:t>The platform equips rural farmers with localized microclimate insights and transparent scheme access, significantly improving agricultural productivity and reducing crop yield risks.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  <a:latin typeface="Calibri"/>
              </a:defRPr>
            </a:pPr>
            <a:r>
              <a:t>AGRISAHAY AI | AI-POWERED AGRICULTURE DECISION SUPPORT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🔮 Future Work &amp; Enhancement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🛰️ Satellite Crop Health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2E22"/>
                </a:solidFill>
              </a:defRPr>
            </a:pPr>
            <a:r>
              <a:t>Integration of Sentinel-2 satellite imagery for remote NDVI vegetation indexing and farm soil moisture mapping.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6830" y="1371600"/>
            <a:ext cx="5394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6830" y="1371600"/>
            <a:ext cx="5394960" cy="45720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🗣️ Multilingual Voice AI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9710" y="19659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2E22"/>
                </a:solidFill>
              </a:defRPr>
            </a:pPr>
            <a:r>
              <a:t>Implementation of speech-to-text voice interaction supporting Indian regional languages (Hindi, Tamil, Telugu, Marathi).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394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840480"/>
            <a:ext cx="539496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📱 Native Mobile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2E22"/>
                </a:solidFill>
              </a:defRPr>
            </a:pPr>
            <a:r>
              <a:t>Development of cross-platform React Native mobile application featuring offline data sync for remote rural areas.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6830" y="3840480"/>
            <a:ext cx="5394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4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6830" y="3840480"/>
            <a:ext cx="5394960" cy="45720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🐛 Automated Pest Outbreak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9710" y="44348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2E22"/>
                </a:solidFill>
              </a:defRPr>
            </a:pPr>
            <a:r>
              <a:t>Predictive analytics engine forecasting pest migration patterns using historical climate vectors and ML models.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CAF50"/>
                </a:solidFill>
                <a:latin typeface="Calibri"/>
              </a:defRPr>
            </a:pPr>
            <a:r>
              <a:t>AGRISAHAY AI | AI-POWERED AGRICULTURE DECISION SUPPORT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📖 References (IEEE Style Citations)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731520" cy="868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A2E22"/>
                </a:solidFill>
              </a:defRPr>
            </a:pPr>
            <a:r>
              <a:t>P. Patel and R. Sharma, "AI-Driven Decision Support Systems in Precision Agriculture," IEEE Transactions on Agri-Food Electronics, vol. 2, no. 1, pp. 45–52, Mar. 2023.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2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359152"/>
            <a:ext cx="731520" cy="868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[2]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50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A2E22"/>
                </a:solidFill>
              </a:defRPr>
            </a:pPr>
            <a:r>
              <a:t>A. Sharma and V. Kumar, "Deep Convolutional Neural Networks for Leaf Disease Detection and Classification," Computers and Electronics in Agriculture, vol. 198, p. 107021, Jul. 2023.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46704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346704"/>
            <a:ext cx="731520" cy="868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[3]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38144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A2E22"/>
                </a:solidFill>
              </a:defRPr>
            </a:pPr>
            <a:r>
              <a:t>M. Gomez, L. Fernandez, and C. Torres, "Microclimate Telemetry and Weather Forecast Integration in Smart Agriculture," IEEE Internet of Things Journal, vol. 11, no. 4, pp. 6120–6131, Feb. 2024.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34256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334256"/>
            <a:ext cx="731520" cy="868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[4]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25696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A2E22"/>
                </a:solidFill>
              </a:defRPr>
            </a:pPr>
            <a:r>
              <a:t>K. Singh, S. Verma, and N. Gupta, "Machine Learning Models for Agricultural Market Price Forecasting," International Journal of Information Technology, vol. 16, no. 2, pp. 310–319, Apr. 2024.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21808"/>
            <a:ext cx="1109441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321808"/>
            <a:ext cx="731520" cy="868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[5]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41324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A2E22"/>
                </a:solidFill>
              </a:defRPr>
            </a:pPr>
            <a:r>
              <a:t>Google Cloud AI Research, "Gemini API Documentation &amp; Multimodal LLM Implementation in Advisory Systems," Google Developers Technical Report,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